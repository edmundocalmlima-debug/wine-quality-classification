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FFFF"/>
    <a:srgbClr val="6D2E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61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754880" cy="475488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A26769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Prevendo a Qualidade de Vinhos</a:t>
            </a:r>
            <a:endParaRPr lang="en-US" sz="44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Machine Learning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análise química ao vinho premium: o que os dados revelam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2  |  POSTECH Data Analytics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Edmundo Cesário de Almeida Lima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avaliar qualidade é caro, lento e subjetivo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a qualidade do vinho é definida por painéis de </a:t>
            </a:r>
            <a:r>
              <a:rPr lang="en-US" sz="17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</a:t>
            </a: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</a:t>
            </a:r>
            <a:r>
              <a:rPr lang="en-US" sz="17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processoque</a:t>
            </a: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depende de experiência, tempo e disponibilidade de avaliadores.</a:t>
            </a:r>
            <a:endParaRPr lang="en-US" sz="17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cada lote já passa por análises químicas de rotina no laboratório: acidez, álcool, densidade, sulfitos...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respondemos: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dados químicos conseguem prever, sozinhos, se um vinho será classificado como de alta qualidade?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040880" y="146304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800000">
              <a:alpha val="20000"/>
            </a:srgbClr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7315200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do jogo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0" y="23774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qualidade</a:t>
            </a:r>
            <a:endParaRPr lang="en-US" sz="17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dos especialistas ≥ 7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Baixa/Média qualidade</a:t>
            </a:r>
            <a:endParaRPr lang="en-US" sz="17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dos especialistas &lt; 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0" y="4663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1.599 amostras de vinho tinto · 11 características químicas por amostra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Vinho excelente é </a:t>
            </a:r>
            <a:r>
              <a:rPr lang="en-US" sz="3200" b="1" dirty="0" err="1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raro</a:t>
            </a: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e </a:t>
            </a:r>
            <a:r>
              <a:rPr lang="en-US" sz="3200" b="1" dirty="0" err="1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isso</a:t>
            </a: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</a:t>
            </a: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863840" y="1371600"/>
            <a:ext cx="3749040" cy="2606040"/>
          </a:xfrm>
          <a:prstGeom prst="roundRect">
            <a:avLst>
              <a:gd name="adj" fmla="val 4211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863840" y="1691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13,6%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8001000" y="2834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vinhos analisados são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alta qualidade (217 de 1.599)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3434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classes tão desiguais, um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sempre respondesse “vinho comum” acertaria 86% das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vezes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sem valor algum para o negócio. Por isso, medimos o sucesso pela capacidade real de encontrar os vinhos premium, não pela taxa bruta de acerto.</a:t>
            </a:r>
            <a:endParaRPr lang="en-US" sz="1600" dirty="0"/>
          </a:p>
        </p:txBody>
      </p:sp>
      <p:pic>
        <p:nvPicPr>
          <p:cNvPr id="8" name="Image 0" descr="/home/claude/wine-quality-classification/results/01_distribuicao_classes.png">
            <a:extLst>
              <a:ext uri="{FF2B5EF4-FFF2-40B4-BE49-F238E27FC236}">
                <a16:creationId xmlns:a16="http://schemas.microsoft.com/office/drawing/2014/main" id="{2A55A184-D6AB-D659-1D10-9A3D30744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1417320"/>
            <a:ext cx="694944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separa um grande vinho de um vinho comum?</a:t>
            </a:r>
            <a:endParaRPr lang="en-US" sz="3200" dirty="0"/>
          </a:p>
        </p:txBody>
      </p:sp>
      <p:pic>
        <p:nvPicPr>
          <p:cNvPr id="3" name="Image 0" descr="/home/claude/wine-quality-classification/results/04_boxplots_top_variave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11064240" cy="3246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84632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77240" y="4983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Álcool ↑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Uvas mais maduras produzem vinhos mais encorpados e bem avaliados.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297680" y="484632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26280" y="4983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Acidez volátil ↓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“toque de vinagre”: o defeito químico que mais derruba a nota.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046720" y="484632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275320" y="4983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Sulfatos ↑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Conservantes que protegem o aroma e o frescor do vinho.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variáveis químicas contam uma história coerente</a:t>
            </a:r>
            <a:endParaRPr lang="en-US" sz="3200" dirty="0"/>
          </a:p>
        </p:txBody>
      </p:sp>
      <p:pic>
        <p:nvPicPr>
          <p:cNvPr id="3" name="Image 0" descr="/home/claude/wine-quality-classification/results/03_matriz_corr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6035040" cy="484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66560" y="155448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de relações confirma a química do vinho: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Álcool é o fator mais ligado à qualidade (+0,48)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Acidez volátil é o principal vilão (−0,39)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ácido ⇒ pH menor (−0,68): os dados respeitam a física e a química — sinal de base confiável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variável sozinha resolve o problema — por isso usamos modelos que combinam todas elas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construímos a solução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CE2D0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Preparação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Verificamos a base (sem dados faltantes), padronizamos as medidas e criamos indicadores combinados, como álcool × sulfatos.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6D2E46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617720" y="2011680"/>
            <a:ext cx="685800" cy="685800"/>
          </a:xfrm>
          <a:prstGeom prst="ellipse">
            <a:avLst/>
          </a:prstGeom>
          <a:solidFill>
            <a:srgbClr val="ECE2D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1772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modelos concorrentes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4747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simples e transparente (Regressão Logística) contra um modelo mais sofisticado (Random Forest).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CE2D0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412480" y="201168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4124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justo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34747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dos vinhos ficaram “escondidos” dos modelos e só foram usados na prova final, com validação cruzada no restante.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termos técnicos no dia a dia: o modelo recebe a análise de laboratório e responde “este lote tem perfil de vinho premium?”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93% de acerto e um vencedor claro</a:t>
            </a:r>
            <a:endParaRPr lang="en-US" sz="3200" dirty="0"/>
          </a:p>
        </p:txBody>
      </p:sp>
      <p:pic>
        <p:nvPicPr>
          <p:cNvPr id="3" name="Image 0" descr="/home/claude/wine-quality-classification/results/07_comparacao_metri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858000" cy="3429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0" y="1371600"/>
            <a:ext cx="3840480" cy="3429000"/>
          </a:xfrm>
          <a:prstGeom prst="roundRect">
            <a:avLst>
              <a:gd name="adj" fmla="val 3200"/>
            </a:avLst>
          </a:prstGeom>
          <a:solidFill>
            <a:srgbClr val="ECE2D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804672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046720" y="21488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acerto geral</a:t>
            </a:r>
            <a:endParaRPr lang="en-US" sz="1350" dirty="0"/>
          </a:p>
          <a:p>
            <a:pPr marL="0" indent="0">
              <a:buNone/>
            </a:pPr>
            <a:r>
              <a:rPr lang="en-US" sz="2400" b="1" dirty="0">
                <a:solidFill>
                  <a:srgbClr val="4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em 10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apontados como premium realmente são</a:t>
            </a:r>
            <a:endParaRPr lang="en-US" sz="1350" dirty="0"/>
          </a:p>
          <a:p>
            <a:pPr marL="0" indent="0">
              <a:buNone/>
            </a:pPr>
            <a:r>
              <a:rPr lang="en-US" sz="2400" b="1" dirty="0">
                <a:solidFill>
                  <a:srgbClr val="4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em 3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premium são encontrados automaticamente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simples encontrava mais vinhos premium, mas errava demais (só 37% dos alertas eram verdadeiros). O Random Forest entrega o melhor equilíbrio entre encontrar e não dar alarme falso.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 um vinho premium, segundo o modelo</a:t>
            </a:r>
            <a:endParaRPr lang="en-US" sz="3200" dirty="0"/>
          </a:p>
        </p:txBody>
      </p:sp>
      <p:pic>
        <p:nvPicPr>
          <p:cNvPr id="3" name="Image 0" descr="/home/claude/wine-quality-classification/results/08_importancia_variave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309360" cy="4709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155448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alavancas para a produção: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Colher no ponto certo — a maturação da uva (teor alcoólico) é o fator nº 1 de qualidade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Fermentação sob controle — conter a acidez volátil evita o principal defeito que desclassifica lotes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Conservação adequada — a dose certa de sulfitos protege aroma e frescor</a:t>
            </a:r>
            <a:endParaRPr lang="en-US" sz="1550" dirty="0"/>
          </a:p>
          <a:p>
            <a:pPr marL="0" indent="0">
              <a:buNone/>
            </a:pPr>
            <a:r>
              <a:rPr lang="en-US" sz="155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confirma o conhecimento dos enólogos — e o transforma em triagem automática e objetiva.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3657600" cy="36576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Conclusão: a química prevê a qualidade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97280" y="18013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Triagem automática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180136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usa análises que o laboratório já faz — a previsão de qualidade sai praticamente de graça, lote a lote.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31272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sensorial focado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06240" y="312724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passam a degustar apenas os lotes candidatos a premium, economizando tempo e custo.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34340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97280" y="44531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no processo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06240" y="445312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Maturação, fermentação e conservação viram indicadores monitoráveis de qualidade — antes de engarrafar.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897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ampliar a base com mais vinhos premium, calibrar o ponto de corte ao custo do negócio e testar modelos de boosting.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709</Words>
  <Application>Microsoft Office PowerPoint</Application>
  <PresentationFormat>Widescreen</PresentationFormat>
  <Paragraphs>75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Edmundo Cesario de Almeida Lima</cp:lastModifiedBy>
  <cp:revision>2</cp:revision>
  <dcterms:created xsi:type="dcterms:W3CDTF">2026-07-13T16:57:08Z</dcterms:created>
  <dcterms:modified xsi:type="dcterms:W3CDTF">2026-07-14T22:01:06Z</dcterms:modified>
</cp:coreProperties>
</file>